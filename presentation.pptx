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.emf" ContentType="image/x-em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7EAE4D-286A-42B5-87C2-55E9C12C93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63E0B0-A3D1-4A37-88C0-ADC518F257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E9083C-49C9-45F9-894E-399E2C5391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43C241-4116-4FEE-9CCD-C763E78E56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C586A1-5252-457B-BD85-070C47D01D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3E3F9F-5ED3-4EF8-AFF0-8DDF3DF55B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155FA-F87D-4608-A595-BC4C6461FB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F3070F-6AE4-4541-8EEC-F5A1F713DA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5D3B40-EC09-42C2-8949-23E17A6871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CEA603-D09F-4A57-80E4-370F980F9C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F82FDF-9080-4B51-81C9-D0A1E4FBDE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mailto:bjca251@uky.edu" TargetMode="External"/><Relationship Id="rId2" Type="http://schemas.openxmlformats.org/officeDocument/2006/relationships/hyperlink" Target="mailto:jack.smoroske@uky.edu" TargetMode="External"/><Relationship Id="rId3" Type="http://schemas.openxmlformats.org/officeDocument/2006/relationships/hyperlink" Target="mailto:jurek@cs.uky.edu" TargetMode="External"/><Relationship Id="rId4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68280" y="1122480"/>
            <a:ext cx="1141416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“Memory Hungry”:</a:t>
            </a:r>
            <a:br>
              <a:rPr sz="6000"/>
            </a:b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Competitive Programming Techniques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Benjamin Carey and Jack Smoroske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CS395 Final Project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University of Kentucky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Problem Background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You’re a fresh, “unique” AI B2B SaaS company.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 have the new LLM that will change the world!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But it’s too expensive to run on your ancient ThinkPad self-hosted server and upgrading RAM is too expensive...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Fortunately, you’re a competitive programmer!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After sufficient tests (a single benchmark), you’ve identified the cost of running the model in terms of its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ontext window.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The Problem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 each test case, you receive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messages with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L[0], L[1], … L[N-1]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tokens each. You also receive a maximum window size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W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and a reduction factor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K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As you receive messages, you may “summarize” by setting the token sizes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Noto Sans CJK SC"/>
              </a:rPr>
              <a:t>L[i]..L[j]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 to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Noto Sans CJK SC"/>
              </a:rPr>
              <a:t>L[i]/K..L[j]/K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 can only summarize starting from the least-recent unsummarized message.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cost to summarize is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64+2*sum(L[i]..L[j])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Your task: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minimize this cost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or print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DOWNLOAD MORE RAM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if impossible.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6" name=""/>
              <p:cNvSpPr txBox="1"/>
              <p:nvPr/>
            </p:nvSpPr>
            <p:spPr>
              <a:xfrm>
                <a:off x="5470200" y="3115440"/>
                <a:ext cx="1269720" cy="634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>
          <p:sp>
            <p:nvSpPr>
              <p:cNvPr id="66" name=""/>
              <p:cNvSpPr txBox="1"/>
              <p:nvPr/>
            </p:nvSpPr>
            <p:spPr>
              <a:xfrm>
                <a:off x="5470200" y="3115440"/>
                <a:ext cx="1269720" cy="6346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The Problem (Visualized)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8" name=""/>
              <p:cNvSpPr txBox="1"/>
              <p:nvPr/>
            </p:nvSpPr>
            <p:spPr>
              <a:xfrm>
                <a:off x="5470200" y="3115440"/>
                <a:ext cx="1269720" cy="634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>
          <p:sp>
            <p:nvSpPr>
              <p:cNvPr id="68" name=""/>
              <p:cNvSpPr txBox="1"/>
              <p:nvPr/>
            </p:nvSpPr>
            <p:spPr>
              <a:xfrm>
                <a:off x="5470200" y="3115440"/>
                <a:ext cx="1269720" cy="6346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pic>
        <p:nvPicPr>
          <p:cNvPr id="69" name=""/>
          <p:cNvPicPr/>
          <p:nvPr/>
        </p:nvPicPr>
        <p:blipFill>
          <a:blip r:embed="rId2"/>
          <a:stretch/>
        </p:blipFill>
        <p:spPr>
          <a:xfrm>
            <a:off x="2895480" y="1603800"/>
            <a:ext cx="6400800" cy="479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Solution Strategy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do we identify the correct approach?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Checking sums of ranges frequently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Prefix sums for efficient calculations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Consider ranges of messages at a time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Sliding window reduces time complexity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Optimization problem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Indicates dynamic programming &amp; solving subproblems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Prefix Sums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Prefix sum array is an array where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P[i]=L[1]+L[2]+…+L[i]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Allows for immediate, O(1) indexing when consulting the sums of ranges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Size of reduced (P[j]/K) or unreduced (P[i]-P[j]) sections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Index j splits in two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cost is 64n + 2P[j]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Messages 1-j are reduced, regardless of how many n reductions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4" name="Table 4"/>
          <p:cNvGraphicFramePr/>
          <p:nvPr/>
        </p:nvGraphicFramePr>
        <p:xfrm>
          <a:off x="2031840" y="5064480"/>
          <a:ext cx="8127720" cy="11124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  <a:gridCol w="13543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Sliding Window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 a view (L, R) over the array – shift L and R rightward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Reduces higher complexities to O(n)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j_min as R for reduced section, L for unreduced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[1, j_min-1] must be reduced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[j_min, i] could be unreduced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Stay under W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7" name="Table 3"/>
          <p:cNvGraphicFramePr/>
          <p:nvPr/>
        </p:nvGraphicFramePr>
        <p:xfrm>
          <a:off x="2031840" y="5451120"/>
          <a:ext cx="8127720" cy="370800"/>
        </p:xfrm>
        <a:graphic>
          <a:graphicData uri="http://schemas.openxmlformats.org/drawingml/2006/table">
            <a:tbl>
              <a:tblPr/>
              <a:tblGrid>
                <a:gridCol w="1625400"/>
                <a:gridCol w="1625400"/>
                <a:gridCol w="1625400"/>
                <a:gridCol w="1625400"/>
                <a:gridCol w="16254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78" name="Straight Connector 5"/>
          <p:cNvCxnSpPr/>
          <p:nvPr/>
        </p:nvCxnSpPr>
        <p:spPr>
          <a:xfrm flipV="1">
            <a:off x="5283720" y="5160960"/>
            <a:ext cx="360" cy="101628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sp>
        <p:nvSpPr>
          <p:cNvPr id="79" name="TextBox 6"/>
          <p:cNvSpPr/>
          <p:nvPr/>
        </p:nvSpPr>
        <p:spPr>
          <a:xfrm>
            <a:off x="2896560" y="6050880"/>
            <a:ext cx="37983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Ex: W = 150, K = 10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j_min = 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Sliding Window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j_max ( &gt; j_min) in a Queue object as another bound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(j_max, i) unreduced window, updated discretely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Push j_max right when it falls behind j_min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Need a new reduction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Only as far as needed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Dynamic Programming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Solve smaller subproblems to build up optimal solution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“Smart” optimizing vs. greedy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DP table stores how many reductions needed to reduce up to index i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Increment values inside by 1 whenever new reduction is needed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Whenever i=N, checking dp[j] gives us our answer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 = minimum index of reduced messages to stay under W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4" name="Table 3"/>
          <p:cNvGraphicFramePr/>
          <p:nvPr/>
        </p:nvGraphicFramePr>
        <p:xfrm>
          <a:off x="1688400" y="5397840"/>
          <a:ext cx="8127720" cy="370800"/>
        </p:xfrm>
        <a:graphic>
          <a:graphicData uri="http://schemas.openxmlformats.org/drawingml/2006/table">
            <a:tbl>
              <a:tblPr/>
              <a:tblGrid>
                <a:gridCol w="812520"/>
                <a:gridCol w="812520"/>
                <a:gridCol w="812520"/>
                <a:gridCol w="812520"/>
                <a:gridCol w="812520"/>
                <a:gridCol w="812520"/>
                <a:gridCol w="812520"/>
                <a:gridCol w="812520"/>
                <a:gridCol w="812520"/>
                <a:gridCol w="8125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dp[i]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85" name="Group 8"/>
          <p:cNvGrpSpPr/>
          <p:nvPr/>
        </p:nvGrpSpPr>
        <p:grpSpPr>
          <a:xfrm>
            <a:off x="8487360" y="5868720"/>
            <a:ext cx="232920" cy="623880"/>
            <a:chOff x="8487360" y="5868720"/>
            <a:chExt cx="232920" cy="623880"/>
          </a:xfrm>
        </p:grpSpPr>
        <p:cxnSp>
          <p:nvCxnSpPr>
            <p:cNvPr id="86" name="Straight Arrow Connector 5"/>
            <p:cNvCxnSpPr/>
            <p:nvPr/>
          </p:nvCxnSpPr>
          <p:spPr>
            <a:xfrm flipV="1">
              <a:off x="8603640" y="5868720"/>
              <a:ext cx="360" cy="325440"/>
            </a:xfrm>
            <a:prstGeom prst="straightConnector1">
              <a:avLst/>
            </a:prstGeom>
            <a:ln>
              <a:solidFill>
                <a:srgbClr val="4472C4"/>
              </a:solidFill>
              <a:tailEnd len="med" type="triangle" w="med"/>
            </a:ln>
          </p:spPr>
        </p:cxnSp>
        <p:sp>
          <p:nvSpPr>
            <p:cNvPr id="87" name="TextBox 6"/>
            <p:cNvSpPr/>
            <p:nvPr/>
          </p:nvSpPr>
          <p:spPr>
            <a:xfrm>
              <a:off x="8487360" y="6123600"/>
              <a:ext cx="2329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j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Demo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44288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W = 100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K = 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graphicFrame>
        <p:nvGraphicFramePr>
          <p:cNvPr id="90" name="Table 1"/>
          <p:cNvGraphicFramePr/>
          <p:nvPr/>
        </p:nvGraphicFramePr>
        <p:xfrm>
          <a:off x="2710440" y="144288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2"/>
          <p:cNvGraphicFramePr/>
          <p:nvPr/>
        </p:nvGraphicFramePr>
        <p:xfrm>
          <a:off x="1359000" y="473580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7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dp[</a:t>
                      </a: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92" name="Straight Connector 1"/>
          <p:cNvCxnSpPr/>
          <p:nvPr/>
        </p:nvCxnSpPr>
        <p:spPr>
          <a:xfrm flipH="1" flipV="1">
            <a:off x="40597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93" name="Straight Connector 2"/>
          <p:cNvCxnSpPr/>
          <p:nvPr/>
        </p:nvCxnSpPr>
        <p:spPr>
          <a:xfrm flipH="1" flipV="1">
            <a:off x="26917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94" name=""/>
          <p:cNvSpPr txBox="1"/>
          <p:nvPr/>
        </p:nvSpPr>
        <p:spPr>
          <a:xfrm>
            <a:off x="2286000" y="320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36072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i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96" name="Content Placeholder 1"/>
          <p:cNvSpPr txBox="1"/>
          <p:nvPr/>
        </p:nvSpPr>
        <p:spPr>
          <a:xfrm>
            <a:off x="9557640" y="145296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Size: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97" name="Straight Connector 3"/>
          <p:cNvCxnSpPr/>
          <p:nvPr/>
        </p:nvCxnSpPr>
        <p:spPr>
          <a:xfrm flipH="1" flipV="1">
            <a:off x="26917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98" name=""/>
          <p:cNvSpPr txBox="1"/>
          <p:nvPr/>
        </p:nvSpPr>
        <p:spPr>
          <a:xfrm>
            <a:off x="2311200" y="3510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j_max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99" name="Content Placeholder 3"/>
          <p:cNvSpPr txBox="1"/>
          <p:nvPr/>
        </p:nvSpPr>
        <p:spPr>
          <a:xfrm>
            <a:off x="9558000" y="469332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Cost: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Demo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44288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W = 100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K = 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graphicFrame>
        <p:nvGraphicFramePr>
          <p:cNvPr id="102" name="Table 5"/>
          <p:cNvGraphicFramePr/>
          <p:nvPr/>
        </p:nvGraphicFramePr>
        <p:xfrm>
          <a:off x="2710440" y="144288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" name="Table 6"/>
          <p:cNvGraphicFramePr/>
          <p:nvPr/>
        </p:nvGraphicFramePr>
        <p:xfrm>
          <a:off x="1359000" y="473580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7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dp[</a:t>
                      </a: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04" name="Straight Connector 7"/>
          <p:cNvCxnSpPr/>
          <p:nvPr/>
        </p:nvCxnSpPr>
        <p:spPr>
          <a:xfrm flipH="1" flipV="1">
            <a:off x="54133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105" name="Straight Connector 8"/>
          <p:cNvCxnSpPr/>
          <p:nvPr/>
        </p:nvCxnSpPr>
        <p:spPr>
          <a:xfrm flipH="1" flipV="1">
            <a:off x="26917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06" name=""/>
          <p:cNvSpPr txBox="1"/>
          <p:nvPr/>
        </p:nvSpPr>
        <p:spPr>
          <a:xfrm>
            <a:off x="2286000" y="320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9608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i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08" name="Content Placeholder 8"/>
          <p:cNvSpPr txBox="1"/>
          <p:nvPr/>
        </p:nvSpPr>
        <p:spPr>
          <a:xfrm>
            <a:off x="9557640" y="145296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Size: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64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109" name="Straight Connector 9"/>
          <p:cNvCxnSpPr/>
          <p:nvPr/>
        </p:nvCxnSpPr>
        <p:spPr>
          <a:xfrm flipH="1" flipV="1">
            <a:off x="26917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10" name=""/>
          <p:cNvSpPr txBox="1"/>
          <p:nvPr/>
        </p:nvSpPr>
        <p:spPr>
          <a:xfrm>
            <a:off x="2311200" y="3510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j_max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11" name="Content Placeholder 9"/>
          <p:cNvSpPr txBox="1"/>
          <p:nvPr/>
        </p:nvSpPr>
        <p:spPr>
          <a:xfrm>
            <a:off x="9558000" y="469332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Cost: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Demo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144288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W = 100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K = 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graphicFrame>
        <p:nvGraphicFramePr>
          <p:cNvPr id="114" name="Table 7"/>
          <p:cNvGraphicFramePr/>
          <p:nvPr/>
        </p:nvGraphicFramePr>
        <p:xfrm>
          <a:off x="2710440" y="144288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Table 8"/>
          <p:cNvGraphicFramePr/>
          <p:nvPr/>
        </p:nvGraphicFramePr>
        <p:xfrm>
          <a:off x="1359000" y="473580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7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dp[</a:t>
                      </a: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16" name="Straight Connector 4"/>
          <p:cNvCxnSpPr/>
          <p:nvPr/>
        </p:nvCxnSpPr>
        <p:spPr>
          <a:xfrm flipH="1" flipV="1">
            <a:off x="67669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117" name="Straight Connector 6"/>
          <p:cNvCxnSpPr/>
          <p:nvPr/>
        </p:nvCxnSpPr>
        <p:spPr>
          <a:xfrm flipH="1" flipV="1">
            <a:off x="26917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18" name=""/>
          <p:cNvSpPr txBox="1"/>
          <p:nvPr/>
        </p:nvSpPr>
        <p:spPr>
          <a:xfrm>
            <a:off x="2286000" y="320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3144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i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20" name="Content Placeholder 5"/>
          <p:cNvSpPr txBox="1"/>
          <p:nvPr/>
        </p:nvSpPr>
        <p:spPr>
          <a:xfrm>
            <a:off x="9557640" y="145296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Size: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rgbClr val="C9211E"/>
                </a:solidFill>
                <a:effectLst/>
                <a:uFillTx/>
                <a:latin typeface="Consolas"/>
              </a:rPr>
              <a:t>128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121" name="Straight Connector 10"/>
          <p:cNvCxnSpPr/>
          <p:nvPr/>
        </p:nvCxnSpPr>
        <p:spPr>
          <a:xfrm flipH="1" flipV="1">
            <a:off x="26917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22" name=""/>
          <p:cNvSpPr txBox="1"/>
          <p:nvPr/>
        </p:nvSpPr>
        <p:spPr>
          <a:xfrm>
            <a:off x="2311200" y="3510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j_max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23" name="Content Placeholder 6"/>
          <p:cNvSpPr txBox="1"/>
          <p:nvPr/>
        </p:nvSpPr>
        <p:spPr>
          <a:xfrm>
            <a:off x="9558000" y="469332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Cost: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Demo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8080" y="144288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W = 100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K = 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graphicFrame>
        <p:nvGraphicFramePr>
          <p:cNvPr id="126" name="Table 9"/>
          <p:cNvGraphicFramePr/>
          <p:nvPr/>
        </p:nvGraphicFramePr>
        <p:xfrm>
          <a:off x="2710440" y="144288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Table 10"/>
          <p:cNvGraphicFramePr/>
          <p:nvPr/>
        </p:nvGraphicFramePr>
        <p:xfrm>
          <a:off x="1359000" y="473580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7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dp[</a:t>
                      </a: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28" name="Straight Connector 11"/>
          <p:cNvCxnSpPr/>
          <p:nvPr/>
        </p:nvCxnSpPr>
        <p:spPr>
          <a:xfrm flipH="1" flipV="1">
            <a:off x="67669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129" name="Straight Connector 12"/>
          <p:cNvCxnSpPr/>
          <p:nvPr/>
        </p:nvCxnSpPr>
        <p:spPr>
          <a:xfrm flipH="1" flipV="1">
            <a:off x="54133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30" name=""/>
          <p:cNvSpPr txBox="1"/>
          <p:nvPr/>
        </p:nvSpPr>
        <p:spPr>
          <a:xfrm>
            <a:off x="5007600" y="320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3144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i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32" name="Content Placeholder 11"/>
          <p:cNvSpPr txBox="1"/>
          <p:nvPr/>
        </p:nvSpPr>
        <p:spPr>
          <a:xfrm>
            <a:off x="9557640" y="145296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Size: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rgbClr val="C9211E"/>
                </a:solidFill>
                <a:effectLst/>
                <a:uFillTx/>
                <a:latin typeface="Consolas"/>
              </a:rPr>
              <a:t>8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+64=72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133" name="Straight Connector 13"/>
          <p:cNvCxnSpPr/>
          <p:nvPr/>
        </p:nvCxnSpPr>
        <p:spPr>
          <a:xfrm flipH="1" flipV="1">
            <a:off x="54133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34" name=""/>
          <p:cNvSpPr txBox="1"/>
          <p:nvPr/>
        </p:nvSpPr>
        <p:spPr>
          <a:xfrm>
            <a:off x="5032800" y="3510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j_max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35" name="Content Placeholder 12"/>
          <p:cNvSpPr txBox="1"/>
          <p:nvPr/>
        </p:nvSpPr>
        <p:spPr>
          <a:xfrm>
            <a:off x="9558000" y="469332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Cost: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Demo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38080" y="144288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W = 100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K = 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graphicFrame>
        <p:nvGraphicFramePr>
          <p:cNvPr id="138" name="Table 11"/>
          <p:cNvGraphicFramePr/>
          <p:nvPr/>
        </p:nvGraphicFramePr>
        <p:xfrm>
          <a:off x="2710440" y="144288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2"/>
          <p:cNvGraphicFramePr/>
          <p:nvPr/>
        </p:nvGraphicFramePr>
        <p:xfrm>
          <a:off x="1359000" y="473580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16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dp[</a:t>
                      </a: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40" name="Straight Connector 14"/>
          <p:cNvCxnSpPr/>
          <p:nvPr/>
        </p:nvCxnSpPr>
        <p:spPr>
          <a:xfrm flipH="1" flipV="1">
            <a:off x="81205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141" name="Straight Connector 15"/>
          <p:cNvCxnSpPr/>
          <p:nvPr/>
        </p:nvCxnSpPr>
        <p:spPr>
          <a:xfrm flipH="1" flipV="1">
            <a:off x="54133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42" name=""/>
          <p:cNvSpPr txBox="1"/>
          <p:nvPr/>
        </p:nvSpPr>
        <p:spPr>
          <a:xfrm>
            <a:off x="5007600" y="320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6680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i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44" name="Content Placeholder 14"/>
          <p:cNvSpPr txBox="1"/>
          <p:nvPr/>
        </p:nvSpPr>
        <p:spPr>
          <a:xfrm>
            <a:off x="9557640" y="145296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Size: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88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145" name="Straight Connector 16"/>
          <p:cNvCxnSpPr/>
          <p:nvPr/>
        </p:nvCxnSpPr>
        <p:spPr>
          <a:xfrm flipH="1" flipV="1">
            <a:off x="54133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46" name=""/>
          <p:cNvSpPr txBox="1"/>
          <p:nvPr/>
        </p:nvSpPr>
        <p:spPr>
          <a:xfrm>
            <a:off x="5032800" y="3510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j_max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47" name="Content Placeholder 15"/>
          <p:cNvSpPr txBox="1"/>
          <p:nvPr/>
        </p:nvSpPr>
        <p:spPr>
          <a:xfrm>
            <a:off x="9558000" y="469332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Cost: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Demo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838080" y="144288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W = 100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K = 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graphicFrame>
        <p:nvGraphicFramePr>
          <p:cNvPr id="150" name="Table 13"/>
          <p:cNvGraphicFramePr/>
          <p:nvPr/>
        </p:nvGraphicFramePr>
        <p:xfrm>
          <a:off x="2710440" y="144288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" name="Table 14"/>
          <p:cNvGraphicFramePr/>
          <p:nvPr/>
        </p:nvGraphicFramePr>
        <p:xfrm>
          <a:off x="1359000" y="473580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7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dp[</a:t>
                      </a: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52" name="Straight Connector 17"/>
          <p:cNvCxnSpPr/>
          <p:nvPr/>
        </p:nvCxnSpPr>
        <p:spPr>
          <a:xfrm flipH="1" flipV="1">
            <a:off x="94741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153" name="Straight Connector 18"/>
          <p:cNvCxnSpPr/>
          <p:nvPr/>
        </p:nvCxnSpPr>
        <p:spPr>
          <a:xfrm flipH="1" flipV="1">
            <a:off x="54133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54" name=""/>
          <p:cNvSpPr txBox="1"/>
          <p:nvPr/>
        </p:nvSpPr>
        <p:spPr>
          <a:xfrm>
            <a:off x="5007600" y="320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90216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i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56" name="Content Placeholder 17"/>
          <p:cNvSpPr txBox="1"/>
          <p:nvPr/>
        </p:nvSpPr>
        <p:spPr>
          <a:xfrm>
            <a:off x="9557640" y="145296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Size: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onsolas"/>
              </a:rPr>
              <a:t>104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157" name="Straight Connector 19"/>
          <p:cNvCxnSpPr/>
          <p:nvPr/>
        </p:nvCxnSpPr>
        <p:spPr>
          <a:xfrm flipH="1" flipV="1">
            <a:off x="54133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58" name=""/>
          <p:cNvSpPr txBox="1"/>
          <p:nvPr/>
        </p:nvSpPr>
        <p:spPr>
          <a:xfrm>
            <a:off x="5032800" y="3510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j_max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59" name="Content Placeholder 18"/>
          <p:cNvSpPr txBox="1"/>
          <p:nvPr/>
        </p:nvSpPr>
        <p:spPr>
          <a:xfrm>
            <a:off x="9558000" y="469332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Cost: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Demo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38080" y="144288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W = 100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K = 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graphicFrame>
        <p:nvGraphicFramePr>
          <p:cNvPr id="162" name="Table 15"/>
          <p:cNvGraphicFramePr/>
          <p:nvPr/>
        </p:nvGraphicFramePr>
        <p:xfrm>
          <a:off x="2710440" y="144288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3" name="Table 16"/>
          <p:cNvGraphicFramePr/>
          <p:nvPr/>
        </p:nvGraphicFramePr>
        <p:xfrm>
          <a:off x="1359000" y="473580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7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dp[</a:t>
                      </a: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64" name="Straight Connector 20"/>
          <p:cNvCxnSpPr/>
          <p:nvPr/>
        </p:nvCxnSpPr>
        <p:spPr>
          <a:xfrm flipH="1" flipV="1">
            <a:off x="94741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165" name="Straight Connector 21"/>
          <p:cNvCxnSpPr/>
          <p:nvPr/>
        </p:nvCxnSpPr>
        <p:spPr>
          <a:xfrm flipH="1" flipV="1">
            <a:off x="67669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66" name=""/>
          <p:cNvSpPr txBox="1"/>
          <p:nvPr/>
        </p:nvSpPr>
        <p:spPr>
          <a:xfrm>
            <a:off x="6361200" y="320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90216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i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68" name="Content Placeholder 20"/>
          <p:cNvSpPr txBox="1"/>
          <p:nvPr/>
        </p:nvSpPr>
        <p:spPr>
          <a:xfrm>
            <a:off x="9557640" y="1452960"/>
            <a:ext cx="21009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Size: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onsolas"/>
              </a:rPr>
              <a:t>16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+32=48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169" name="Straight Connector 22"/>
          <p:cNvCxnSpPr/>
          <p:nvPr/>
        </p:nvCxnSpPr>
        <p:spPr>
          <a:xfrm flipH="1" flipV="1">
            <a:off x="81277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70" name=""/>
          <p:cNvSpPr txBox="1"/>
          <p:nvPr/>
        </p:nvSpPr>
        <p:spPr>
          <a:xfrm>
            <a:off x="77472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j_max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71" name="Content Placeholder 21"/>
          <p:cNvSpPr txBox="1"/>
          <p:nvPr/>
        </p:nvSpPr>
        <p:spPr>
          <a:xfrm>
            <a:off x="9558000" y="469332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Cost: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Demo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838080" y="144288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W = 100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K = 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graphicFrame>
        <p:nvGraphicFramePr>
          <p:cNvPr id="174" name="Table 17"/>
          <p:cNvGraphicFramePr/>
          <p:nvPr/>
        </p:nvGraphicFramePr>
        <p:xfrm>
          <a:off x="2710440" y="144288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Table 18"/>
          <p:cNvGraphicFramePr/>
          <p:nvPr/>
        </p:nvGraphicFramePr>
        <p:xfrm>
          <a:off x="1359000" y="473580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7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dp[</a:t>
                      </a: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76" name="Straight Connector 23"/>
          <p:cNvCxnSpPr/>
          <p:nvPr/>
        </p:nvCxnSpPr>
        <p:spPr>
          <a:xfrm flipH="1" flipV="1">
            <a:off x="94741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177" name="Straight Connector 24"/>
          <p:cNvCxnSpPr/>
          <p:nvPr/>
        </p:nvCxnSpPr>
        <p:spPr>
          <a:xfrm flipH="1" flipV="1">
            <a:off x="67669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78" name=""/>
          <p:cNvSpPr txBox="1"/>
          <p:nvPr/>
        </p:nvSpPr>
        <p:spPr>
          <a:xfrm>
            <a:off x="6361200" y="320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90216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i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80" name="Content Placeholder 23"/>
          <p:cNvSpPr txBox="1"/>
          <p:nvPr/>
        </p:nvSpPr>
        <p:spPr>
          <a:xfrm>
            <a:off x="9557640" y="1452960"/>
            <a:ext cx="21009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Size: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onsolas"/>
              </a:rPr>
              <a:t>16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+32=48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181" name="Straight Connector 25"/>
          <p:cNvCxnSpPr/>
          <p:nvPr/>
        </p:nvCxnSpPr>
        <p:spPr>
          <a:xfrm flipH="1" flipV="1">
            <a:off x="81277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82" name=""/>
          <p:cNvSpPr txBox="1"/>
          <p:nvPr/>
        </p:nvSpPr>
        <p:spPr>
          <a:xfrm>
            <a:off x="77472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j_max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83" name="Content Placeholder 24"/>
          <p:cNvSpPr txBox="1"/>
          <p:nvPr/>
        </p:nvSpPr>
        <p:spPr>
          <a:xfrm>
            <a:off x="9558000" y="469332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Cost: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184" name="Straight Connector 26"/>
          <p:cNvCxnSpPr/>
          <p:nvPr/>
        </p:nvCxnSpPr>
        <p:spPr>
          <a:xfrm flipH="1" flipV="1">
            <a:off x="2698920" y="393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85" name=""/>
          <p:cNvSpPr txBox="1"/>
          <p:nvPr/>
        </p:nvSpPr>
        <p:spPr>
          <a:xfrm>
            <a:off x="2293200" y="626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2743200" y="4343400"/>
            <a:ext cx="1143000" cy="37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Size: 160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 flipV="1">
            <a:off x="2698920" y="2540880"/>
            <a:ext cx="1415880" cy="13960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Table 23"/>
          <p:cNvGraphicFramePr/>
          <p:nvPr/>
        </p:nvGraphicFramePr>
        <p:xfrm>
          <a:off x="1359360" y="473616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7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dp[</a:t>
                      </a: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Demo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838080" y="144288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W = 100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K = 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graphicFrame>
        <p:nvGraphicFramePr>
          <p:cNvPr id="191" name="Table 19"/>
          <p:cNvGraphicFramePr/>
          <p:nvPr/>
        </p:nvGraphicFramePr>
        <p:xfrm>
          <a:off x="2710440" y="144288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92" name="Straight Connector 27"/>
          <p:cNvCxnSpPr/>
          <p:nvPr/>
        </p:nvCxnSpPr>
        <p:spPr>
          <a:xfrm flipH="1" flipV="1">
            <a:off x="94741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193" name="Straight Connector 28"/>
          <p:cNvCxnSpPr/>
          <p:nvPr/>
        </p:nvCxnSpPr>
        <p:spPr>
          <a:xfrm flipH="1" flipV="1">
            <a:off x="67669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94" name=""/>
          <p:cNvSpPr txBox="1"/>
          <p:nvPr/>
        </p:nvSpPr>
        <p:spPr>
          <a:xfrm>
            <a:off x="6361200" y="320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90216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i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96" name="Content Placeholder 26"/>
          <p:cNvSpPr txBox="1"/>
          <p:nvPr/>
        </p:nvSpPr>
        <p:spPr>
          <a:xfrm>
            <a:off x="9557640" y="1452960"/>
            <a:ext cx="21009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Size: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onsolas"/>
              </a:rPr>
              <a:t>16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+32=48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197" name="Straight Connector 29"/>
          <p:cNvCxnSpPr/>
          <p:nvPr/>
        </p:nvCxnSpPr>
        <p:spPr>
          <a:xfrm flipH="1" flipV="1">
            <a:off x="81277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98" name=""/>
          <p:cNvSpPr txBox="1"/>
          <p:nvPr/>
        </p:nvSpPr>
        <p:spPr>
          <a:xfrm>
            <a:off x="77472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j_max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99" name="Content Placeholder 27"/>
          <p:cNvSpPr txBox="1"/>
          <p:nvPr/>
        </p:nvSpPr>
        <p:spPr>
          <a:xfrm>
            <a:off x="9558000" y="469332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Cost: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192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200" name="Straight Connector 30"/>
          <p:cNvCxnSpPr/>
          <p:nvPr/>
        </p:nvCxnSpPr>
        <p:spPr>
          <a:xfrm flipH="1" flipV="1">
            <a:off x="4066920" y="393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201" name=""/>
          <p:cNvSpPr txBox="1"/>
          <p:nvPr/>
        </p:nvSpPr>
        <p:spPr>
          <a:xfrm>
            <a:off x="3661200" y="626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4111200" y="4343400"/>
            <a:ext cx="1143000" cy="37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Size: 104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 flipV="1">
            <a:off x="4066920" y="2540880"/>
            <a:ext cx="1419480" cy="13960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 flipV="1">
            <a:off x="4066920" y="2514600"/>
            <a:ext cx="0" cy="1422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" name="Table 20"/>
          <p:cNvGraphicFramePr/>
          <p:nvPr/>
        </p:nvGraphicFramePr>
        <p:xfrm>
          <a:off x="1359360" y="473616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7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dp[</a:t>
                      </a: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Demo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838080" y="1442880"/>
            <a:ext cx="1872360" cy="91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W = 100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K = 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graphicFrame>
        <p:nvGraphicFramePr>
          <p:cNvPr id="208" name="Table 21"/>
          <p:cNvGraphicFramePr/>
          <p:nvPr/>
        </p:nvGraphicFramePr>
        <p:xfrm>
          <a:off x="2710440" y="1442880"/>
          <a:ext cx="6771240" cy="1098000"/>
        </p:xfrm>
        <a:graphic>
          <a:graphicData uri="http://schemas.openxmlformats.org/drawingml/2006/table">
            <a:tbl>
              <a:tblPr/>
              <a:tblGrid>
                <a:gridCol w="1354320"/>
                <a:gridCol w="1354320"/>
                <a:gridCol w="1354320"/>
                <a:gridCol w="1354320"/>
                <a:gridCol w="135432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P[i]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09" name="Straight Connector 31"/>
          <p:cNvCxnSpPr/>
          <p:nvPr/>
        </p:nvCxnSpPr>
        <p:spPr>
          <a:xfrm flipH="1" flipV="1">
            <a:off x="94741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210" name="Straight Connector 32"/>
          <p:cNvCxnSpPr/>
          <p:nvPr/>
        </p:nvCxnSpPr>
        <p:spPr>
          <a:xfrm flipH="1" flipV="1">
            <a:off x="67669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211" name=""/>
          <p:cNvSpPr txBox="1"/>
          <p:nvPr/>
        </p:nvSpPr>
        <p:spPr>
          <a:xfrm>
            <a:off x="6361200" y="320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90216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i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213" name="Content Placeholder 29"/>
          <p:cNvSpPr txBox="1"/>
          <p:nvPr/>
        </p:nvSpPr>
        <p:spPr>
          <a:xfrm>
            <a:off x="9557640" y="1452960"/>
            <a:ext cx="2100960" cy="91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Size: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onsolas"/>
              </a:rPr>
              <a:t>16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+32=48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214" name="Straight Connector 33"/>
          <p:cNvCxnSpPr/>
          <p:nvPr/>
        </p:nvCxnSpPr>
        <p:spPr>
          <a:xfrm flipH="1" flipV="1">
            <a:off x="8127720" y="87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215" name=""/>
          <p:cNvSpPr txBox="1"/>
          <p:nvPr/>
        </p:nvSpPr>
        <p:spPr>
          <a:xfrm>
            <a:off x="7747200" y="31860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j_max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216" name="Content Placeholder 30"/>
          <p:cNvSpPr txBox="1"/>
          <p:nvPr/>
        </p:nvSpPr>
        <p:spPr>
          <a:xfrm>
            <a:off x="9558000" y="4693320"/>
            <a:ext cx="1872360" cy="917640"/>
          </a:xfrm>
          <a:prstGeom prst="rect">
            <a:avLst/>
          </a:prstGeom>
          <a:noFill/>
          <a:ln w="18360">
            <a:solidFill>
              <a:srgbClr val="FFBF00"/>
            </a:solidFill>
            <a:round/>
          </a:ln>
        </p:spPr>
        <p:txBody>
          <a:bodyPr lIns="100440" tIns="54720" rIns="100440" bIns="5472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Cost: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384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olas"/>
            </a:endParaRPr>
          </a:p>
        </p:txBody>
      </p:sp>
      <p:cxnSp>
        <p:nvCxnSpPr>
          <p:cNvPr id="217" name="Straight Connector 34"/>
          <p:cNvCxnSpPr/>
          <p:nvPr/>
        </p:nvCxnSpPr>
        <p:spPr>
          <a:xfrm flipH="1" flipV="1">
            <a:off x="5413320" y="3936960"/>
            <a:ext cx="10440" cy="224964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218" name=""/>
          <p:cNvSpPr txBox="1"/>
          <p:nvPr/>
        </p:nvSpPr>
        <p:spPr>
          <a:xfrm>
            <a:off x="5007600" y="6260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j_min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457600" y="4343400"/>
            <a:ext cx="1143000" cy="37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Size: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48</a:t>
            </a:r>
            <a:endParaRPr lang="en-US" sz="1800" b="0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 flipV="1">
            <a:off x="5413320" y="2514600"/>
            <a:ext cx="1353600" cy="1422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 flipH="1" flipV="1">
            <a:off x="4114800" y="2540880"/>
            <a:ext cx="1298520" cy="13960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Conclusions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Prefix sums, sliding windows, and dynamic programming are all powerful tools for solving competition problems.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While powerful on their own, the way these techniques are combined to solve non-trivial problems.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Mastering these techniques and when to use them will level up your problem solving abilities.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 made-up and real-world problems alike!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1"/>
          <p:cNvSpPr/>
          <p:nvPr/>
        </p:nvSpPr>
        <p:spPr>
          <a:xfrm>
            <a:off x="-104040" y="4465080"/>
            <a:ext cx="12399480" cy="2337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831960" y="1574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Questions?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sng" strike="noStrike">
                <a:solidFill>
                  <a:schemeClr val="lt1"/>
                </a:solidFill>
                <a:effectLst/>
                <a:uFillTx/>
                <a:latin typeface="Calibri"/>
                <a:hlinkClick r:id="rId1"/>
              </a:rPr>
              <a:t>bjca251@uky.edu</a:t>
            </a:r>
            <a:br>
              <a:rPr sz="2400"/>
            </a:br>
            <a:r>
              <a:rPr lang="en-US" sz="2400" b="0" u="sng" strike="noStrike">
                <a:solidFill>
                  <a:schemeClr val="lt1"/>
                </a:solidFill>
                <a:effectLst/>
                <a:uFillTx/>
                <a:latin typeface="Calibri"/>
                <a:hlinkClick r:id="rId2"/>
              </a:rPr>
              <a:t>jack.smoroske@uky.edu</a:t>
            </a:r>
            <a:br>
              <a:rPr sz="2400"/>
            </a:br>
            <a:r>
              <a:rPr lang="en-US" sz="2400" b="0" u="sng" strike="noStrike">
                <a:solidFill>
                  <a:schemeClr val="lt1"/>
                </a:solidFill>
                <a:effectLst/>
                <a:uFillTx/>
                <a:latin typeface="Calibri"/>
                <a:hlinkClick r:id="rId3"/>
              </a:rPr>
              <a:t>jurek@cs.uky.edu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Application>LibreOffice/26.2.3.2$Linux_X86_64 LibreOffice_project/a31940f583db492bb69b3a601caf6d1b0ecf61f1</Application>
  <AppVersion>15.0000</AppVersion>
  <Words>417</Words>
  <Paragraphs>83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2026-05-05T17:00:14Z</dcterms:created>
  <dc:creator>Smoroske, Jackson W.</dc:creator>
  <dc:description/>
  <dc:language>en-US</dc:language>
  <cp:lastModifiedBy/>
  <dcterms:modified xsi:type="dcterms:W3CDTF">2026-05-07T10:45:05Z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