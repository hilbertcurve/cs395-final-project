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34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3BB94-5116-9608-8629-4495A94B38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FE62F5-2FE4-880C-98A9-09BCDDF614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8C1318-F4B8-B2AC-684C-0AD39B906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DF59F-C9E3-02E9-7E05-04462738C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EEC46-EE75-C5BB-55A8-98AB7392E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6079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A7BAA-0B25-7FA0-FD49-067CE3F8B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3E0376-1A89-75E8-EE90-FFAF71544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22AA1-332E-5587-65DD-15BB3699E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DC322-8E3F-2467-2CCC-E059B4B31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5E298-5FCD-3783-3A29-F9BAE60E8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894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FE005-4982-8B50-6509-8AC0EAD4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4F79DA-A16B-0931-A5E6-6B2BEC175E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860D5-9FE9-39D6-4E5D-F3E026794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80D4B3-ACDC-C9F8-1857-8D695B308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83956-6AD1-C196-D3F6-86E826C9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651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B63E9-5E90-4F65-FFBE-81A09055A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D43A0-8798-C9D9-C622-A0F5AFD9BF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F3015-3985-D6DF-0119-BCAD8B75A2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415489-F5CA-3A7B-7B95-C0AEEC7AF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6C7249-82F8-896F-23BD-22E8BDA7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44F578-5F07-DC31-DB17-4A57813C1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155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890AB-2D0C-5BE4-78C6-187F0D371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5E60E2-64B0-7793-89C0-BA5562120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899A9-B2AE-8E75-8162-C651A562C0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DC2460-2C33-0493-88ED-DD628894D9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FA7D1F-7884-0C17-FEA9-FBD59A89BC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97A0D8-EDA9-5980-4658-C296BD603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DF768D-ADB6-708E-A9D5-DA8DFC272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4929D5-993A-7F2B-232F-547841587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554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5E6B2-D2DC-037E-BCAD-EEB2CCFA1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639C79-03BA-FE30-1951-B6D713383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8DC95-0942-5648-9C69-F4929382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25171-6AB9-B975-C121-4CB3A8376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0865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9C8969-94A2-3FA8-D820-35D95488B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6BEEF5-9145-225F-C42E-B566693A3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C36C6-EAF4-96AB-DEC1-4B3F01EE4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148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252A6-751F-7350-8B51-9AF01BEE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1245B-80A5-1755-BFB0-0608642081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063AD4-C461-6C18-1A6A-FF8BD6655D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FEB5E2-A1FE-986F-BC57-B6A609DF2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F7834A-8CBF-E035-5920-087FA6E79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5B56D4-73A3-B6AC-98CF-8AE928C4C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60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3C690-0F75-398A-92BE-8B3D076DD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3037F7-DF3A-5564-82FE-12BCDBD127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856219-D4D3-E434-1263-0AF3F5CBCF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778AB-78E5-0DF6-6F05-8DC3567CB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E343EA-9352-8CC8-8B36-B43F30C22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BEF379-5361-28BA-F397-5C8040061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864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836A8-DDD4-4D7E-EECD-27E77E01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06234-726B-4795-0B83-1CC455712A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7945E-E04D-2044-4AF2-9BDD6A6D5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17ABF-85B8-A857-00C4-D9C794FD8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9487BD-D5F7-7C61-F490-6167A13EC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5683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186184-A572-E06C-6A5E-AECB6C2265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A5E57B-E19A-FA86-F6C6-0ACB1BFDAF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85CF55-E2D0-89E6-66D4-1E79C96F7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480EE-1A17-4A7E-BC0C-8137FBD0E5B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79AE9-6B4C-A9FB-396D-5ACD380E4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4D61C2-A681-EDFD-2585-44774D6C0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607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4E15A3-BB3E-5DB6-50FA-3F555F14E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5C7D8-B299-E04D-4AA9-CAB26B8C06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F88A3-5704-9C15-CB98-5D33763B42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3480EE-1A17-4A7E-BC0C-8137FBD0E5B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04D47-783A-6109-7049-3C263623B3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28CDF-BD7E-8CFA-B68E-CCD55360FF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91DB6A-B894-4747-8717-193D139C69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128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mailto:jack.smoroske@uky.edu" TargetMode="External"/><Relationship Id="rId2" Type="http://schemas.openxmlformats.org/officeDocument/2006/relationships/hyperlink" Target="mailto:bjca251@uky.edu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mailto:jurek@cs.uky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2995A-9E46-DEA1-4268-19AF8505C7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8215" y="1122363"/>
            <a:ext cx="11414657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“Memory Hungry”:</a:t>
            </a:r>
            <a:br>
              <a:rPr lang="en-US" dirty="0"/>
            </a:br>
            <a:r>
              <a:rPr lang="en-US" dirty="0"/>
              <a:t>Competitive Programming Techniques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413B44-2535-E13F-7D17-2CFC75E4C4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Benjamin Carey and Jack Smoroske</a:t>
            </a:r>
          </a:p>
          <a:p>
            <a:r>
              <a:rPr lang="en-US"/>
              <a:t>CS395 Final Project</a:t>
            </a:r>
          </a:p>
          <a:p>
            <a:r>
              <a:rPr lang="en-US"/>
              <a:t>University of Kentucky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038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86EA4-117F-8865-8D72-677F057D2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EFF3F-6887-6537-5F5B-39D3EF885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003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CEEB-2AA8-3B95-94F7-008BE1632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A8851-708B-98E7-6532-6A0F7A6F6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 visualization?</a:t>
            </a:r>
          </a:p>
        </p:txBody>
      </p:sp>
    </p:spTree>
    <p:extLst>
      <p:ext uri="{BB962C8B-B14F-4D97-AF65-F5344CB8AC3E}">
        <p14:creationId xmlns:p14="http://schemas.microsoft.com/office/powerpoint/2010/main" val="3564127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CC433-0E81-7FEB-A611-37DDC955D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91683-78DD-5C80-7CDD-766F32737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do we identify the correct approach?</a:t>
            </a:r>
          </a:p>
          <a:p>
            <a:r>
              <a:rPr lang="en-US" dirty="0"/>
              <a:t>Checking sums of ranges frequently</a:t>
            </a:r>
          </a:p>
          <a:p>
            <a:pPr lvl="1"/>
            <a:r>
              <a:rPr lang="en-US" dirty="0"/>
              <a:t>Prefix sums for efficient calculations</a:t>
            </a:r>
          </a:p>
          <a:p>
            <a:r>
              <a:rPr lang="en-US" dirty="0"/>
              <a:t>Consider ranges of messages at a time</a:t>
            </a:r>
          </a:p>
          <a:p>
            <a:pPr lvl="1"/>
            <a:r>
              <a:rPr lang="en-US" dirty="0"/>
              <a:t>Sliding window reduces time complexity</a:t>
            </a:r>
          </a:p>
          <a:p>
            <a:r>
              <a:rPr lang="en-US" dirty="0"/>
              <a:t>Optimization problem</a:t>
            </a:r>
          </a:p>
          <a:p>
            <a:pPr lvl="1"/>
            <a:r>
              <a:rPr lang="en-US" dirty="0"/>
              <a:t>Indicates dynamic programming &amp; solving subproblems</a:t>
            </a:r>
          </a:p>
        </p:txBody>
      </p:sp>
    </p:spTree>
    <p:extLst>
      <p:ext uri="{BB962C8B-B14F-4D97-AF65-F5344CB8AC3E}">
        <p14:creationId xmlns:p14="http://schemas.microsoft.com/office/powerpoint/2010/main" val="1186570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7B9CB-7A19-E2C6-BC13-6A902C00A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 Sums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252CE-565B-754F-C0C8-4764CB0F1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Prefix sum array is an array where </a:t>
            </a:r>
            <a:r>
              <a:rPr lang="en-US" dirty="0">
                <a:latin typeface="Consolas" panose="020B0609020204030204" pitchFamily="49" charset="0"/>
              </a:rPr>
              <a:t>P[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]=L[1]+L[2]+…+L[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</a:p>
          <a:p>
            <a:pPr marL="0" indent="0">
              <a:buNone/>
            </a:pPr>
            <a:r>
              <a:rPr lang="en-US" dirty="0"/>
              <a:t>Allows for immediate, O(1) indexing when consulting the sums of ranges</a:t>
            </a:r>
          </a:p>
          <a:p>
            <a:pPr lvl="1"/>
            <a:r>
              <a:rPr lang="en-US" dirty="0"/>
              <a:t>Size of reduced (P[j]/K) or unreduced (P[</a:t>
            </a:r>
            <a:r>
              <a:rPr lang="en-US" dirty="0" err="1"/>
              <a:t>i</a:t>
            </a:r>
            <a:r>
              <a:rPr lang="en-US" dirty="0"/>
              <a:t>]-P[j]) sections </a:t>
            </a:r>
          </a:p>
          <a:p>
            <a:pPr lvl="2"/>
            <a:r>
              <a:rPr lang="en-US" dirty="0"/>
              <a:t>Index j splits in two</a:t>
            </a:r>
          </a:p>
          <a:p>
            <a:pPr lvl="1"/>
            <a:r>
              <a:rPr lang="en-US" dirty="0"/>
              <a:t>Total cost is 64n + 2P[j]</a:t>
            </a:r>
          </a:p>
          <a:p>
            <a:pPr lvl="2"/>
            <a:r>
              <a:rPr lang="en-US" dirty="0"/>
              <a:t>Messages 1-j are reduced, regardless of how many n reductions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FC249A5-A2C6-A418-79D9-1E90317F8B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8506248"/>
              </p:ext>
            </p:extLst>
          </p:nvPr>
        </p:nvGraphicFramePr>
        <p:xfrm>
          <a:off x="2031999" y="5064443"/>
          <a:ext cx="8128002" cy="11125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1669290905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67497377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85719677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8460362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7709792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8500763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i="1" dirty="0" err="1"/>
                        <a:t>i</a:t>
                      </a:r>
                      <a:endParaRPr lang="en-US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5541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9045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91535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83412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C2D11-90F7-ECE4-1495-B24101B52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E40800-1AEC-1DF8-8271-B05083286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Slide a view (L, R) over the array – shift L and R rightward</a:t>
            </a:r>
          </a:p>
          <a:p>
            <a:pPr lvl="1"/>
            <a:r>
              <a:rPr lang="en-US" dirty="0"/>
              <a:t>Reduces higher complexities to O(n)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Use </a:t>
            </a:r>
            <a:r>
              <a:rPr lang="en-US" dirty="0" err="1"/>
              <a:t>j_min</a:t>
            </a:r>
            <a:r>
              <a:rPr lang="en-US" dirty="0"/>
              <a:t> as R for reduced section, L for unreduced</a:t>
            </a:r>
          </a:p>
          <a:p>
            <a:pPr lvl="1"/>
            <a:r>
              <a:rPr lang="en-US" dirty="0"/>
              <a:t>[1, j_min-1] must be reduced</a:t>
            </a:r>
          </a:p>
          <a:p>
            <a:pPr lvl="1"/>
            <a:r>
              <a:rPr lang="en-US" dirty="0"/>
              <a:t>[</a:t>
            </a:r>
            <a:r>
              <a:rPr lang="en-US" dirty="0" err="1"/>
              <a:t>j_min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] could be unreduced</a:t>
            </a:r>
          </a:p>
          <a:p>
            <a:pPr lvl="1"/>
            <a:r>
              <a:rPr lang="en-US" dirty="0"/>
              <a:t>Stay under W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51B59D3-AB10-CB52-CDF4-9DD1092275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0054421"/>
              </p:ext>
            </p:extLst>
          </p:nvPr>
        </p:nvGraphicFramePr>
        <p:xfrm>
          <a:off x="2032000" y="5451226"/>
          <a:ext cx="8128000" cy="3708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413947515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02861794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678834873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59377681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08151112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09486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E989B7-E2D9-7143-0D09-9C9ED04AB7EC}"/>
              </a:ext>
            </a:extLst>
          </p:cNvPr>
          <p:cNvCxnSpPr/>
          <p:nvPr/>
        </p:nvCxnSpPr>
        <p:spPr>
          <a:xfrm flipV="1">
            <a:off x="5283882" y="5161144"/>
            <a:ext cx="0" cy="101581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462D71A-1877-464F-7B3D-EF26311F283A}"/>
              </a:ext>
            </a:extLst>
          </p:cNvPr>
          <p:cNvSpPr txBox="1"/>
          <p:nvPr/>
        </p:nvSpPr>
        <p:spPr>
          <a:xfrm>
            <a:off x="2896622" y="6050779"/>
            <a:ext cx="379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Ex: W = 150, K = 10		</a:t>
            </a:r>
            <a:r>
              <a:rPr lang="en-US" dirty="0" err="1"/>
              <a:t>j_min</a:t>
            </a:r>
            <a:r>
              <a:rPr lang="en-US" dirty="0"/>
              <a:t> = 3</a:t>
            </a:r>
          </a:p>
        </p:txBody>
      </p:sp>
    </p:spTree>
    <p:extLst>
      <p:ext uri="{BB962C8B-B14F-4D97-AF65-F5344CB8AC3E}">
        <p14:creationId xmlns:p14="http://schemas.microsoft.com/office/powerpoint/2010/main" val="4025502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D8598-1FF4-8569-59BB-84F8F3B21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1F5A6-0B1A-382D-2681-D8DCE145E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Use </a:t>
            </a:r>
            <a:r>
              <a:rPr lang="en-US" dirty="0" err="1"/>
              <a:t>j_max</a:t>
            </a:r>
            <a:r>
              <a:rPr lang="en-US" dirty="0"/>
              <a:t> ( &gt; </a:t>
            </a:r>
            <a:r>
              <a:rPr lang="en-US" dirty="0" err="1"/>
              <a:t>j_min</a:t>
            </a:r>
            <a:r>
              <a:rPr lang="en-US" dirty="0"/>
              <a:t>) in a Queue object as another bound</a:t>
            </a:r>
          </a:p>
          <a:p>
            <a:pPr lvl="1"/>
            <a:r>
              <a:rPr lang="en-US" dirty="0"/>
              <a:t>(</a:t>
            </a:r>
            <a:r>
              <a:rPr lang="en-US" dirty="0" err="1"/>
              <a:t>j_max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) unreduced window, updated discretely</a:t>
            </a:r>
          </a:p>
          <a:p>
            <a:pPr lvl="1"/>
            <a:r>
              <a:rPr lang="en-US" dirty="0"/>
              <a:t>Push </a:t>
            </a:r>
            <a:r>
              <a:rPr lang="en-US" dirty="0" err="1"/>
              <a:t>j_max</a:t>
            </a:r>
            <a:r>
              <a:rPr lang="en-US" dirty="0"/>
              <a:t> right when it falls behind </a:t>
            </a:r>
            <a:r>
              <a:rPr lang="en-US" dirty="0" err="1"/>
              <a:t>j_min</a:t>
            </a:r>
            <a:endParaRPr lang="en-US" dirty="0"/>
          </a:p>
          <a:p>
            <a:pPr lvl="2"/>
            <a:r>
              <a:rPr lang="en-US" dirty="0"/>
              <a:t>Need a new reduction </a:t>
            </a:r>
          </a:p>
          <a:p>
            <a:pPr lvl="2"/>
            <a:r>
              <a:rPr lang="en-US" dirty="0"/>
              <a:t>Only as far as needed</a:t>
            </a:r>
          </a:p>
        </p:txBody>
      </p:sp>
    </p:spTree>
    <p:extLst>
      <p:ext uri="{BB962C8B-B14F-4D97-AF65-F5344CB8AC3E}">
        <p14:creationId xmlns:p14="http://schemas.microsoft.com/office/powerpoint/2010/main" val="3255189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4FDD0-26F6-D2A8-F97D-DC6F9B5AB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EF197-938F-ABF1-6DC7-59F8FA3213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smaller subproblems to build up optimal solution</a:t>
            </a:r>
          </a:p>
          <a:p>
            <a:pPr lvl="1"/>
            <a:r>
              <a:rPr lang="en-US" dirty="0"/>
              <a:t>“Smart” optimizing vs. greedy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DP table stores how many reductions needed to reduce up to index </a:t>
            </a:r>
            <a:r>
              <a:rPr lang="en-US" dirty="0" err="1"/>
              <a:t>i</a:t>
            </a:r>
            <a:endParaRPr lang="en-US" dirty="0"/>
          </a:p>
          <a:p>
            <a:pPr lvl="1"/>
            <a:r>
              <a:rPr lang="en-US" dirty="0"/>
              <a:t>Increment values inside by 1 whenever new reduction is needed</a:t>
            </a:r>
          </a:p>
          <a:p>
            <a:pPr lvl="1"/>
            <a:r>
              <a:rPr lang="en-US" dirty="0"/>
              <a:t>Whenever </a:t>
            </a:r>
            <a:r>
              <a:rPr lang="en-US" dirty="0" err="1"/>
              <a:t>i</a:t>
            </a:r>
            <a:r>
              <a:rPr lang="en-US" dirty="0"/>
              <a:t>=N, checking </a:t>
            </a:r>
            <a:r>
              <a:rPr lang="en-US" dirty="0" err="1"/>
              <a:t>dp</a:t>
            </a:r>
            <a:r>
              <a:rPr lang="en-US" dirty="0"/>
              <a:t>[j] gives us our answer</a:t>
            </a:r>
          </a:p>
          <a:p>
            <a:pPr lvl="2"/>
            <a:r>
              <a:rPr lang="en-US" dirty="0"/>
              <a:t>j = minimum index of reduced messages to stay under W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CADB1F2-E6CF-2BE9-51B9-F2CECE9168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414100"/>
              </p:ext>
            </p:extLst>
          </p:nvPr>
        </p:nvGraphicFramePr>
        <p:xfrm>
          <a:off x="1688332" y="5397881"/>
          <a:ext cx="8128000" cy="37084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421431109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16341522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1839117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872563897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31043075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81506034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70647302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4221742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86921914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4742563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dp</a:t>
                      </a:r>
                      <a:r>
                        <a:rPr lang="en-US" dirty="0"/>
                        <a:t>[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135696"/>
                  </a:ext>
                </a:extLst>
              </a:tr>
            </a:tbl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C897D1F3-F451-BE23-D619-8915C60034C4}"/>
              </a:ext>
            </a:extLst>
          </p:cNvPr>
          <p:cNvGrpSpPr/>
          <p:nvPr/>
        </p:nvGrpSpPr>
        <p:grpSpPr>
          <a:xfrm>
            <a:off x="8487350" y="5868776"/>
            <a:ext cx="233203" cy="624099"/>
            <a:chOff x="8303243" y="6069406"/>
            <a:chExt cx="233203" cy="624099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666AC2F-3351-3BCE-95F2-C73646394FCA}"/>
                </a:ext>
              </a:extLst>
            </p:cNvPr>
            <p:cNvCxnSpPr/>
            <p:nvPr/>
          </p:nvCxnSpPr>
          <p:spPr>
            <a:xfrm flipV="1">
              <a:off x="8419845" y="6069406"/>
              <a:ext cx="0" cy="3252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088EB6A-CACF-EB9F-BD5E-C1AA148F21F4}"/>
                </a:ext>
              </a:extLst>
            </p:cNvPr>
            <p:cNvSpPr txBox="1"/>
            <p:nvPr/>
          </p:nvSpPr>
          <p:spPr>
            <a:xfrm>
              <a:off x="8303243" y="6324173"/>
              <a:ext cx="2332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2158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C060-08BC-45C5-D601-DD3D2F45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D3E3F-F817-33C0-F6BF-B91BAC8365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383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16864-EE0B-E8D5-37E2-5BE9D589A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84B64-13D3-0C5B-BC46-45B6816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933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1748A4-F7D4-D5EC-5192-C2872BA1E100}"/>
              </a:ext>
            </a:extLst>
          </p:cNvPr>
          <p:cNvSpPr/>
          <p:nvPr/>
        </p:nvSpPr>
        <p:spPr>
          <a:xfrm>
            <a:off x="-103909" y="4464957"/>
            <a:ext cx="12399818" cy="233781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C6C5EE-79AD-9BFB-AE2B-B3CCBC25C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574724"/>
            <a:ext cx="10515600" cy="2852737"/>
          </a:xfrm>
        </p:spPr>
        <p:txBody>
          <a:bodyPr/>
          <a:lstStyle/>
          <a:p>
            <a:r>
              <a:rPr lang="en-US" b="1" dirty="0"/>
              <a:t>Questions?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D093E9-99D2-75E4-9BD4-968EFA27B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bjca251@uky.edu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jack.smoroske@uky.edu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jurek@cs.uky.edu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05118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417</Words>
  <Application>Microsoft Office PowerPoint</Application>
  <PresentationFormat>Widescreen</PresentationFormat>
  <Paragraphs>83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Consolas</vt:lpstr>
      <vt:lpstr>Office Theme</vt:lpstr>
      <vt:lpstr>“Memory Hungry”: Competitive Programming Techniques</vt:lpstr>
      <vt:lpstr>Problem Background</vt:lpstr>
      <vt:lpstr>The Problem</vt:lpstr>
      <vt:lpstr>Solution Strategy</vt:lpstr>
      <vt:lpstr>Prefix Sums</vt:lpstr>
      <vt:lpstr>Sliding Window</vt:lpstr>
      <vt:lpstr>Sliding Window</vt:lpstr>
      <vt:lpstr>Dynamic Programming</vt:lpstr>
      <vt:lpstr>Demo</vt:lpstr>
      <vt:lpstr>Conclusions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Smoroske, Jackson W.</dc:creator>
  <cp:lastModifiedBy>Smoroske, Jackson W.</cp:lastModifiedBy>
  <cp:revision>5</cp:revision>
  <dcterms:created xsi:type="dcterms:W3CDTF">2026-05-05T17:00:14Z</dcterms:created>
  <dcterms:modified xsi:type="dcterms:W3CDTF">2026-05-06T18:56:29Z</dcterms:modified>
</cp:coreProperties>
</file>